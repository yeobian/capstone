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1371600"/>
            <a:ext cx="12191695" cy="9144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" y="2743200"/>
            <a:ext cx="12191695" cy="9144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" y="4114800"/>
            <a:ext cx="12191695" cy="9144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" y="5486400"/>
            <a:ext cx="12191695" cy="9144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6C63FF"/>
                </a:solidFill>
                <a:latin typeface="Calibri"/>
              </a:defRPr>
            </a:pPr>
            <a:r>
              <a:t>CAPSTONE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 i="0">
                <a:solidFill>
                  <a:srgbClr val="FFFFFF"/>
                </a:solidFill>
                <a:latin typeface="Calibri"/>
              </a:defRPr>
            </a:pPr>
            <a:r>
              <a:t>Personal Wardrobe Intelligence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57600"/>
            <a:ext cx="45720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0">
                <a:solidFill>
                  <a:srgbClr val="888899"/>
                </a:solidFill>
                <a:latin typeface="Calibri"/>
              </a:defRPr>
            </a:pPr>
            <a:r>
              <a:t>Visual Similarity Retrieval  ·  Preference Reranking  ·  FashionCLIP + FAISS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88899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8E8E8"/>
                </a:solidFill>
                <a:latin typeface="Calibri"/>
              </a:defRPr>
            </a:pPr>
            <a:r>
              <a:t>Finding similar clothing is slow, subjective, and tool-less.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E8E8E8"/>
                </a:solidFill>
                <a:latin typeface="Calibri"/>
              </a:defRPr>
            </a:pPr>
            <a:r>
              <a:t>  Browsing a wardrobe manually relies on memory and guesswork</a:t>
            </a:r>
          </a:p>
          <a:p>
            <a:pPr>
              <a:spcAft>
                <a:spcPts val="1400"/>
              </a:spcAft>
              <a:defRPr sz="2000">
                <a:solidFill>
                  <a:srgbClr val="E8E8E8"/>
                </a:solidFill>
                <a:latin typeface="Calibri"/>
              </a:defRPr>
            </a:pPr>
            <a:r>
              <a:t>  Keyword search fails for visual style — "navy blue structured blazer" returns nothing useful</a:t>
            </a:r>
          </a:p>
          <a:p>
            <a:pPr>
              <a:spcAft>
                <a:spcPts val="1400"/>
              </a:spcAft>
              <a:defRPr sz="2000">
                <a:solidFill>
                  <a:srgbClr val="E8E8E8"/>
                </a:solidFill>
                <a:latin typeface="Calibri"/>
              </a:defRPr>
            </a:pPr>
            <a:r>
              <a:t>  No existing free tool answers: "what do I own that looks like this?"</a:t>
            </a:r>
          </a:p>
          <a:p>
            <a:pPr>
              <a:spcAft>
                <a:spcPts val="1400"/>
              </a:spcAft>
              <a:defRPr sz="2000">
                <a:solidFill>
                  <a:srgbClr val="E8E8E8"/>
                </a:solidFill>
                <a:latin typeface="Calibri"/>
              </a:defRPr>
            </a:pPr>
            <a:r>
              <a:t>  And no tool lets you say: "similar to this, but more casual, no logos"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79592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6B6B"/>
                </a:solidFill>
                <a:latin typeface="Calibri"/>
              </a:defRPr>
            </a:pPr>
            <a:r>
              <a:t>"Visual style can't be typed — it needs to be shown."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58368"/>
            <a:ext cx="1463040" cy="329184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76656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Baseline: CLIP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888899"/>
                </a:solidFill>
                <a:latin typeface="Calibri"/>
              </a:defRPr>
            </a:pPr>
            <a:r>
              <a:t>"I started with a basic CLIP-based retrieval system."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937760" cy="2743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0C9A7"/>
                </a:solidFill>
                <a:latin typeface="Calibri"/>
              </a:defRPr>
            </a:pPr>
            <a:r>
              <a:t>What it did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Upload image → get 5 similar items</a:t>
            </a:r>
          </a:p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CLIP encodes images into 512-dim embeddings</a:t>
            </a:r>
          </a:p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Cosine similarity over ~400 catalog images</a:t>
            </a:r>
          </a:p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Live Streamlit web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94560"/>
            <a:ext cx="4937760" cy="2743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F6B6B"/>
                </a:solidFill>
                <a:latin typeface="Calibri"/>
              </a:defRPr>
            </a:pPr>
            <a:r>
              <a:t>Where it fell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346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CLIP trained on generic internet data</a:t>
            </a:r>
          </a:p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Struggled with specific garments</a:t>
            </a:r>
          </a:p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Puffer jackets, cardigans → poor results</a:t>
            </a:r>
          </a:p>
          <a:p>
            <a:pPr>
              <a:spcAft>
                <a:spcPts val="10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t>  No way to guide or filter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879592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D166"/>
                </a:solidFill>
                <a:latin typeface="Calibri"/>
              </a:defRPr>
            </a:pPr>
            <a:r>
              <a:t>"It worked — but it wasn't fashion-aware."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58368"/>
            <a:ext cx="1463040" cy="329184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76656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STAGE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Adding User Preferences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888899"/>
                </a:solidFill>
                <a:latin typeface="Calibri"/>
              </a:defRPr>
            </a:pPr>
            <a:r>
              <a:t>"I added user preferences to make results controllable."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0C9A7"/>
                </a:solidFill>
                <a:latin typeface="Consolas"/>
              </a:defRPr>
            </a:pPr>
            <a:r>
              <a:t>final_score  =  base_score  +  0.15 × goal_bonus  −  0.15 × avoid_penalty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Style controls: formal / casual / minimal / sporty</a:t>
            </a:r>
          </a:p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Fit preference: slim, regular, relaxed, oversized</a:t>
            </a:r>
          </a:p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Avoid features: hoods, logos, cropped, skinny fit</a:t>
            </a:r>
          </a:p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Free-text input: "more formal, avoid skinny fit"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00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Text prompts encoded with CLIP (e.g. "a formal outfit")</a:t>
            </a:r>
          </a:p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Each result gets a goal bonus and avoid penalty</a:t>
            </a:r>
          </a:p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Results re-sorted by final score</a:t>
            </a:r>
          </a:p>
          <a:p>
            <a:pPr>
              <a:spcAft>
                <a:spcPts val="1000"/>
              </a:spcAft>
              <a:defRPr sz="1700">
                <a:solidFill>
                  <a:srgbClr val="E8E8E8"/>
                </a:solidFill>
                <a:latin typeface="Calibri"/>
              </a:defRPr>
            </a:pPr>
            <a:r>
              <a:t>  Both baseline and reranked results shown side by 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879592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C9A7"/>
                </a:solidFill>
                <a:latin typeface="Calibri"/>
              </a:defRPr>
            </a:pPr>
            <a:r>
              <a:t>"Users can now steer results — instead of just accepting them."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58368"/>
            <a:ext cx="1463040" cy="32918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76656"/>
            <a:ext cx="1426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STAGE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Major Upgrade: FashionCLIP + FAISS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888899"/>
                </a:solidFill>
                <a:latin typeface="Calibri"/>
              </a:defRPr>
            </a:pPr>
            <a:r>
              <a:t>"I upgraded both the model and the search system."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9377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4937760" cy="34747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88899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697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C9A7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88899"/>
                </a:solidFill>
                <a:latin typeface="Calibri"/>
              </a:defRPr>
            </a:pPr>
            <a:r>
              <a:t>OpenAI 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089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108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C9A7"/>
                </a:solidFill>
                <a:latin typeface="Calibri"/>
              </a:defRPr>
            </a:pPr>
            <a:r>
              <a:t>FashionCLIP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General-purpose → fashion-specific</a:t>
            </a:r>
          </a:p>
          <a:p>
            <a:pPr>
              <a:spcAft>
                <a:spcPts val="8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Trained on 800K fashion image-text pairs</a:t>
            </a:r>
          </a:p>
          <a:p>
            <a:pPr>
              <a:spcAft>
                <a:spcPts val="8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Better at garment types, styles, fabrics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94560"/>
            <a:ext cx="49377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194560"/>
            <a:ext cx="4937760" cy="34747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23113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88899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C9A7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089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88899"/>
                </a:solidFill>
                <a:latin typeface="Calibri"/>
              </a:defRPr>
            </a:pPr>
            <a:r>
              <a:t>NumPy dot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1089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108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0C9A7"/>
                </a:solidFill>
                <a:latin typeface="Calibri"/>
              </a:defRPr>
            </a:pPr>
            <a:r>
              <a:t>FAISS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74903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Brute-force → production vector search</a:t>
            </a:r>
          </a:p>
          <a:p>
            <a:pPr>
              <a:spcAft>
                <a:spcPts val="8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Index saved to disk, loaded on reuse</a:t>
            </a:r>
          </a:p>
          <a:p>
            <a:pPr>
              <a:spcAft>
                <a:spcPts val="8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Scales to any catalog size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879592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D166"/>
                </a:solidFill>
                <a:latin typeface="Calibri"/>
              </a:defRPr>
            </a:pPr>
            <a:r>
              <a:t>"This moves the system from a prototype toward a real-world pipeline."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2468880"/>
            <a:ext cx="1737360" cy="13716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Upload</a:t>
            </a:r>
            <a:br/>
            <a:r>
              <a:t>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CCCCCC"/>
                </a:solidFill>
                <a:latin typeface="Calibri"/>
              </a:defRPr>
            </a:pPr>
            <a:r>
              <a:t>Streamlit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880360"/>
            <a:ext cx="292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2468880"/>
            <a:ext cx="1737360" cy="1371600"/>
          </a:xfrm>
          <a:prstGeom prst="rect">
            <a:avLst/>
          </a:prstGeom>
          <a:solidFill>
            <a:srgbClr val="3A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FashionCLIP</a:t>
            </a:r>
            <a:br/>
            <a:r>
              <a:t>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3337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CCCCCC"/>
                </a:solidFill>
                <a:latin typeface="Calibri"/>
              </a:defRPr>
            </a:pPr>
            <a:r>
              <a:t>512-dim embedding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880360"/>
            <a:ext cx="292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0056" y="2468880"/>
            <a:ext cx="1737360" cy="1371600"/>
          </a:xfrm>
          <a:prstGeom prst="rect">
            <a:avLst/>
          </a:prstGeom>
          <a:solidFill>
            <a:srgbClr val="1A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1496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FAISS</a:t>
            </a:r>
            <a:br/>
            <a: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3337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CCCCCC"/>
                </a:solidFill>
                <a:latin typeface="Calibri"/>
              </a:defRPr>
            </a:pPr>
            <a:r>
              <a:t>Top-5 neighbors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8856" y="2880360"/>
            <a:ext cx="292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32904" y="2468880"/>
            <a:ext cx="1737360" cy="1371600"/>
          </a:xfrm>
          <a:prstGeom prst="rect">
            <a:avLst/>
          </a:prstGeom>
          <a:solidFill>
            <a:srgbClr val="5A4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24344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Preference</a:t>
            </a:r>
            <a:br/>
            <a:r>
              <a:t>Reranking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3337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CCCCCC"/>
                </a:solidFill>
                <a:latin typeface="Calibri"/>
              </a:defRPr>
            </a:pPr>
            <a:r>
              <a:t>Goal / Avoid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704" y="2880360"/>
            <a:ext cx="2926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45752" y="2468880"/>
            <a:ext cx="173736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  <a:br/>
            <a:r>
              <a:t>Display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1472" y="33375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CCCCCC"/>
                </a:solidFill>
                <a:latin typeface="Calibri"/>
              </a:defRPr>
            </a:pPr>
            <a:r>
              <a:t>Baseline + Reranked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23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88899"/>
                </a:solidFill>
                <a:latin typeface="Calibri"/>
              </a:defRPr>
            </a:pPr>
            <a:r>
              <a:t>User uploads a</a:t>
            </a:r>
            <a:br/>
            <a:r>
              <a:t>clothing 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88899"/>
                </a:solidFill>
                <a:latin typeface="Calibri"/>
              </a:defRPr>
            </a:pPr>
            <a:r>
              <a:t>Image converted to</a:t>
            </a:r>
            <a:br/>
            <a:r>
              <a:t>numerical embedding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6" y="4023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88899"/>
                </a:solidFill>
                <a:latin typeface="Calibri"/>
              </a:defRPr>
            </a:pPr>
            <a:r>
              <a:t>Nearest catalog</a:t>
            </a:r>
            <a:br/>
            <a:r>
              <a:t>items retrieved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2904" y="4023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88899"/>
                </a:solidFill>
                <a:latin typeface="Calibri"/>
              </a:defRPr>
            </a:pPr>
            <a:r>
              <a:t>Style preferences</a:t>
            </a:r>
            <a:br/>
            <a:r>
              <a:t>applied to scores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45752" y="40233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88899"/>
                </a:solidFill>
                <a:latin typeface="Calibri"/>
              </a:defRPr>
            </a:pPr>
            <a:r>
              <a:t>Both views shown</a:t>
            </a:r>
            <a:br/>
            <a:r>
              <a:t>side by side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Engineering Discipline: What I Fixed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888899"/>
                </a:solidFill>
                <a:latin typeface="Calibri"/>
              </a:defRPr>
            </a:pPr>
            <a:r>
              <a:t>Not just new features — I also cut what wasn't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4937760" cy="30175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FF6B6B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Broken training pipeline (WardrobeNet missing)</a:t>
            </a:r>
          </a:p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Stubbed evaluate.py with dummy predictions</a:t>
            </a:r>
          </a:p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Unused config files referencing wrong model</a:t>
            </a:r>
          </a:p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Two disconnected systems in one repo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4937760" cy="30175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0C9A7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3464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Moved broken code to experimental/ (preserved, not deleted)</a:t>
            </a:r>
          </a:p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src/ has only 4 files — all connected to the demo</a:t>
            </a:r>
          </a:p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README matches syllabus requirements exactly</a:t>
            </a:r>
          </a:p>
          <a:p>
            <a:pPr>
              <a:spcAft>
                <a:spcPts val="10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t>  One working pipeline, clearly documented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806440"/>
            <a:ext cx="1069848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879592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FD166"/>
                </a:solidFill>
                <a:latin typeface="Calibri"/>
              </a:defRPr>
            </a:pPr>
            <a:r>
              <a:t>"I prioritized a clean, working pipeline over incomplete features."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1">
                <a:solidFill>
                  <a:srgbClr val="888899"/>
                </a:solidFill>
                <a:latin typeface="Calibri"/>
              </a:defRPr>
            </a:pPr>
            <a:r>
              <a:t>Realistic next steps — not promises.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73152" cy="8229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Persistent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88899"/>
                </a:solidFill>
                <a:latin typeface="Calibri"/>
              </a:defRPr>
            </a:pPr>
            <a:r>
              <a:t>Store user likes and dislikes across sessions to personalize retrieval over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57600"/>
            <a:ext cx="73152" cy="8229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Larger Catalog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88899"/>
                </a:solidFill>
                <a:latin typeface="Calibri"/>
              </a:defRPr>
            </a:pPr>
            <a:r>
              <a:t>More catalog images = better coverage. Results improve directly with catalog variety.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37760"/>
            <a:ext cx="73152" cy="8229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Cloud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88899"/>
                </a:solidFill>
                <a:latin typeface="Calibri"/>
              </a:defRPr>
            </a:pPr>
            <a:r>
              <a:t>Deploy to Streamlit Cloud or Render so the demo runs without a local setup.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017520"/>
            <a:ext cx="576072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0" y="309067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0C9A7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888899"/>
                </a:solidFill>
                <a:latin typeface="Calibri"/>
              </a:defRPr>
            </a:pPr>
            <a:r>
              <a:t>Upload  →  Retrieve  →  Preference Filter  →  Reranked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474720"/>
            <a:ext cx="4846320" cy="36576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888899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88899"/>
                </a:solidFill>
                <a:latin typeface="Consolas"/>
              </a:defRPr>
            </a:pPr>
            <a:r>
              <a:t>github.com/yeobian/Capstone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